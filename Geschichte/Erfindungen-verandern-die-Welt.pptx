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4630400" cy="8229600"/>
  <p:notesSz cx="8229600" cy="14630400"/>
  <p:embeddedFontLst>
    <p:embeddedFont>
      <p:font typeface="Barlow" panose="00000500000000000000" pitchFamily="2" charset="0"/>
      <p:regular r:id="rId17"/>
    </p:embeddedFont>
    <p:embeddedFont>
      <p:font typeface="Barlow Medium" panose="00000600000000000000" pitchFamily="2" charset="0"/>
      <p:regular r:id="rId18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16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6532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ebb.at/de/infrastruktur/geschichte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5" Type="http://schemas.openxmlformats.org/officeDocument/2006/relationships/hyperlink" Target="https://www.fia.com/regulation/category/110" TargetMode="External"/><Relationship Id="rId4" Type="http://schemas.openxmlformats.org/officeDocument/2006/relationships/hyperlink" Target="https://anno.onb.ac.a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3046333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Erfindungen verändern die Welt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4037" y="4788218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401961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Inhaltsverzeichnis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2581513"/>
            <a:ext cx="12902327" cy="4246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Das Eisenbahnzeitalter</a:t>
            </a:r>
            <a:endParaRPr lang="en-US" sz="1900" dirty="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Warum begann der Eisenbahnbau in England?</a:t>
            </a:r>
            <a:endParaRPr lang="en-US" sz="1900" dirty="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Fahrzeiten damals und heute</a:t>
            </a:r>
            <a:endParaRPr lang="en-US" sz="1900" dirty="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Sport als Technikmotor</a:t>
            </a:r>
            <a:endParaRPr lang="en-US" sz="1900" dirty="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Wichtige Erfindungen des 18. und 19. Jahrhunderts</a:t>
            </a:r>
            <a:endParaRPr lang="en-US" sz="1900" dirty="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Erfindungen der letzten Jahre</a:t>
            </a:r>
            <a:endParaRPr lang="en-US" sz="1900" dirty="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Technik im Vergleich der Epochen</a:t>
            </a:r>
            <a:endParaRPr lang="en-US" sz="1900" dirty="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Diskussionsfrage 1: Macht uns Fortschritt freier – oder abhängiger?</a:t>
            </a:r>
            <a:endParaRPr lang="en-US" sz="1900" dirty="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Diskussionsfrage 2: Staat oder Markt?</a:t>
            </a:r>
            <a:endParaRPr lang="en-US" sz="1900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FE96907-F476-B52F-8D06-08735DEC1C65}"/>
              </a:ext>
            </a:extLst>
          </p:cNvPr>
          <p:cNvSpPr/>
          <p:nvPr/>
        </p:nvSpPr>
        <p:spPr>
          <a:xfrm>
            <a:off x="12875298" y="7637144"/>
            <a:ext cx="1755101" cy="569595"/>
          </a:xfrm>
          <a:prstGeom prst="rect">
            <a:avLst/>
          </a:prstGeom>
          <a:solidFill>
            <a:srgbClr val="181617"/>
          </a:solidFill>
          <a:ln>
            <a:solidFill>
              <a:srgbClr val="1816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037" y="768429"/>
            <a:ext cx="1906667" cy="464106"/>
          </a:xfrm>
          <a:prstGeom prst="roundRect">
            <a:avLst>
              <a:gd name="adj" fmla="val 17874"/>
            </a:avLst>
          </a:prstGeom>
          <a:solidFill>
            <a:srgbClr val="48040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1012150" y="842486"/>
            <a:ext cx="1610439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19. JAHRHUNDERT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64037" y="1331238"/>
            <a:ext cx="5494734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Das Eisenbahnzeitalter</a:t>
            </a:r>
            <a:endParaRPr lang="en-US" sz="4300" dirty="0"/>
          </a:p>
        </p:txBody>
      </p:sp>
      <p:sp>
        <p:nvSpPr>
          <p:cNvPr id="5" name="Shape 3"/>
          <p:cNvSpPr/>
          <p:nvPr/>
        </p:nvSpPr>
        <p:spPr>
          <a:xfrm>
            <a:off x="864037" y="4260890"/>
            <a:ext cx="12902327" cy="30480"/>
          </a:xfrm>
          <a:prstGeom prst="roundRect">
            <a:avLst>
              <a:gd name="adj" fmla="val 340200"/>
            </a:avLst>
          </a:prstGeom>
          <a:solidFill>
            <a:srgbClr val="9220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2896195" y="3520380"/>
            <a:ext cx="30480" cy="740569"/>
          </a:xfrm>
          <a:prstGeom prst="roundRect">
            <a:avLst>
              <a:gd name="adj" fmla="val 340200"/>
            </a:avLst>
          </a:prstGeom>
          <a:solidFill>
            <a:srgbClr val="9220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2633782" y="3983176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790709"/>
          </a:solidFill>
          <a:ln w="1524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2746891" y="4055090"/>
            <a:ext cx="329089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1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539954" y="2387322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1807</a:t>
            </a:r>
            <a:endParaRPr lang="en-US" sz="2150" dirty="0"/>
          </a:p>
        </p:txBody>
      </p:sp>
      <p:sp>
        <p:nvSpPr>
          <p:cNvPr id="10" name="Text 8"/>
          <p:cNvSpPr/>
          <p:nvPr/>
        </p:nvSpPr>
        <p:spPr>
          <a:xfrm>
            <a:off x="1110853" y="2878336"/>
            <a:ext cx="360140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Raddampfer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098018" y="4260830"/>
            <a:ext cx="30480" cy="740569"/>
          </a:xfrm>
          <a:prstGeom prst="roundRect">
            <a:avLst>
              <a:gd name="adj" fmla="val 340200"/>
            </a:avLst>
          </a:prstGeom>
          <a:solidFill>
            <a:srgbClr val="9220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4835604" y="3983176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790709"/>
          </a:solidFill>
          <a:ln w="1524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4948714" y="4055090"/>
            <a:ext cx="329089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2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3741777" y="5248394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1825</a:t>
            </a:r>
            <a:endParaRPr lang="en-US" sz="2150" dirty="0"/>
          </a:p>
        </p:txBody>
      </p:sp>
      <p:sp>
        <p:nvSpPr>
          <p:cNvPr id="15" name="Text 13"/>
          <p:cNvSpPr/>
          <p:nvPr/>
        </p:nvSpPr>
        <p:spPr>
          <a:xfrm>
            <a:off x="3312676" y="5739408"/>
            <a:ext cx="360140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Erste Bahn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299841" y="3520380"/>
            <a:ext cx="30480" cy="740569"/>
          </a:xfrm>
          <a:prstGeom prst="roundRect">
            <a:avLst>
              <a:gd name="adj" fmla="val 340200"/>
            </a:avLst>
          </a:prstGeom>
          <a:solidFill>
            <a:srgbClr val="9220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7037427" y="3983176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790709"/>
          </a:solidFill>
          <a:ln w="1524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7150537" y="4055090"/>
            <a:ext cx="329089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3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5943600" y="2387322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1829</a:t>
            </a:r>
            <a:endParaRPr lang="en-US" sz="2150" dirty="0"/>
          </a:p>
        </p:txBody>
      </p:sp>
      <p:sp>
        <p:nvSpPr>
          <p:cNvPr id="20" name="Text 18"/>
          <p:cNvSpPr/>
          <p:nvPr/>
        </p:nvSpPr>
        <p:spPr>
          <a:xfrm>
            <a:off x="5514499" y="2878336"/>
            <a:ext cx="360140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Rocket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9501664" y="4260830"/>
            <a:ext cx="30480" cy="740569"/>
          </a:xfrm>
          <a:prstGeom prst="roundRect">
            <a:avLst>
              <a:gd name="adj" fmla="val 340200"/>
            </a:avLst>
          </a:prstGeom>
          <a:solidFill>
            <a:srgbClr val="9220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9239250" y="3983176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790709"/>
          </a:solidFill>
          <a:ln w="1524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9352359" y="4055090"/>
            <a:ext cx="329089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4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8145423" y="5248394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1837</a:t>
            </a:r>
            <a:endParaRPr lang="en-US" sz="2150" dirty="0"/>
          </a:p>
        </p:txBody>
      </p:sp>
      <p:sp>
        <p:nvSpPr>
          <p:cNvPr id="25" name="Text 23"/>
          <p:cNvSpPr/>
          <p:nvPr/>
        </p:nvSpPr>
        <p:spPr>
          <a:xfrm>
            <a:off x="7716322" y="5739408"/>
            <a:ext cx="360140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Österreich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11703487" y="3520380"/>
            <a:ext cx="30480" cy="740569"/>
          </a:xfrm>
          <a:prstGeom prst="roundRect">
            <a:avLst>
              <a:gd name="adj" fmla="val 340200"/>
            </a:avLst>
          </a:prstGeom>
          <a:solidFill>
            <a:srgbClr val="9220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7" name="Shape 25"/>
          <p:cNvSpPr/>
          <p:nvPr/>
        </p:nvSpPr>
        <p:spPr>
          <a:xfrm>
            <a:off x="11441073" y="3983176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790709"/>
          </a:solidFill>
          <a:ln w="1524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11554182" y="4055090"/>
            <a:ext cx="329089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5</a:t>
            </a:r>
            <a:endParaRPr lang="en-US" sz="2550" dirty="0"/>
          </a:p>
        </p:txBody>
      </p:sp>
      <p:sp>
        <p:nvSpPr>
          <p:cNvPr id="29" name="Text 27"/>
          <p:cNvSpPr/>
          <p:nvPr/>
        </p:nvSpPr>
        <p:spPr>
          <a:xfrm>
            <a:off x="10347246" y="2387322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1848–1854</a:t>
            </a:r>
            <a:endParaRPr lang="en-US" sz="2150" dirty="0"/>
          </a:p>
        </p:txBody>
      </p:sp>
      <p:sp>
        <p:nvSpPr>
          <p:cNvPr id="30" name="Text 28"/>
          <p:cNvSpPr/>
          <p:nvPr/>
        </p:nvSpPr>
        <p:spPr>
          <a:xfrm>
            <a:off x="9918144" y="2878336"/>
            <a:ext cx="360140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Semmeringbahn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864037" y="6412111"/>
            <a:ext cx="12902327" cy="1049060"/>
          </a:xfrm>
          <a:prstGeom prst="roundRect">
            <a:avLst>
              <a:gd name="adj" fmla="val 9884"/>
            </a:avLst>
          </a:prstGeom>
          <a:solidFill>
            <a:srgbClr val="48040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53" y="6794183"/>
            <a:ext cx="308610" cy="246817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666280" y="6720602"/>
            <a:ext cx="1185326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Eisenbahnen: privat, wirtschaftlich, militärisch.</a:t>
            </a:r>
            <a:endParaRPr lang="en-US" sz="1900" dirty="0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BD3969BF-0C9F-19B5-A19A-9880D5CE1ABC}"/>
              </a:ext>
            </a:extLst>
          </p:cNvPr>
          <p:cNvSpPr/>
          <p:nvPr/>
        </p:nvSpPr>
        <p:spPr>
          <a:xfrm>
            <a:off x="12875298" y="7637144"/>
            <a:ext cx="1755101" cy="569595"/>
          </a:xfrm>
          <a:prstGeom prst="rect">
            <a:avLst/>
          </a:prstGeom>
          <a:solidFill>
            <a:srgbClr val="181617"/>
          </a:solidFill>
          <a:ln>
            <a:solidFill>
              <a:srgbClr val="1816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689021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Warum begann der Eisenbahnbau in England?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350437" y="3430905"/>
            <a:ext cx="3584496" cy="897493"/>
          </a:xfrm>
          <a:prstGeom prst="roundRect">
            <a:avLst>
              <a:gd name="adj" fmla="val 16301"/>
            </a:avLst>
          </a:prstGeom>
          <a:solidFill>
            <a:srgbClr val="191718">
              <a:alpha val="95000"/>
            </a:srgbClr>
          </a:solidFill>
          <a:ln w="3048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2"/>
          <p:cNvSpPr/>
          <p:nvPr/>
        </p:nvSpPr>
        <p:spPr>
          <a:xfrm>
            <a:off x="6319957" y="3430905"/>
            <a:ext cx="121920" cy="897493"/>
          </a:xfrm>
          <a:prstGeom prst="roundRect">
            <a:avLst>
              <a:gd name="adj" fmla="val 85050"/>
            </a:avLst>
          </a:prstGeom>
          <a:solidFill>
            <a:srgbClr val="F65F6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3"/>
          <p:cNvSpPr/>
          <p:nvPr/>
        </p:nvSpPr>
        <p:spPr>
          <a:xfrm>
            <a:off x="6719173" y="3708202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Industrienation</a:t>
            </a:r>
            <a:endParaRPr lang="en-US" sz="2150" dirty="0"/>
          </a:p>
        </p:txBody>
      </p:sp>
      <p:sp>
        <p:nvSpPr>
          <p:cNvPr id="7" name="Shape 4"/>
          <p:cNvSpPr/>
          <p:nvPr/>
        </p:nvSpPr>
        <p:spPr>
          <a:xfrm>
            <a:off x="10181749" y="3430905"/>
            <a:ext cx="3584615" cy="897493"/>
          </a:xfrm>
          <a:prstGeom prst="roundRect">
            <a:avLst>
              <a:gd name="adj" fmla="val 16301"/>
            </a:avLst>
          </a:prstGeom>
          <a:solidFill>
            <a:srgbClr val="191718">
              <a:alpha val="95000"/>
            </a:srgbClr>
          </a:solidFill>
          <a:ln w="3048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5"/>
          <p:cNvSpPr/>
          <p:nvPr/>
        </p:nvSpPr>
        <p:spPr>
          <a:xfrm>
            <a:off x="10151269" y="3430905"/>
            <a:ext cx="121920" cy="897493"/>
          </a:xfrm>
          <a:prstGeom prst="roundRect">
            <a:avLst>
              <a:gd name="adj" fmla="val 85050"/>
            </a:avLst>
          </a:prstGeom>
          <a:solidFill>
            <a:srgbClr val="F65F6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10550485" y="3708202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Privatkapital</a:t>
            </a:r>
            <a:endParaRPr lang="en-US" sz="2150" dirty="0"/>
          </a:p>
        </p:txBody>
      </p:sp>
      <p:sp>
        <p:nvSpPr>
          <p:cNvPr id="10" name="Shape 7"/>
          <p:cNvSpPr/>
          <p:nvPr/>
        </p:nvSpPr>
        <p:spPr>
          <a:xfrm>
            <a:off x="6350437" y="4575215"/>
            <a:ext cx="3584496" cy="897493"/>
          </a:xfrm>
          <a:prstGeom prst="roundRect">
            <a:avLst>
              <a:gd name="adj" fmla="val 16301"/>
            </a:avLst>
          </a:prstGeom>
          <a:solidFill>
            <a:srgbClr val="191718">
              <a:alpha val="95000"/>
            </a:srgbClr>
          </a:solidFill>
          <a:ln w="3048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8"/>
          <p:cNvSpPr/>
          <p:nvPr/>
        </p:nvSpPr>
        <p:spPr>
          <a:xfrm>
            <a:off x="6319957" y="4575215"/>
            <a:ext cx="121920" cy="897493"/>
          </a:xfrm>
          <a:prstGeom prst="roundRect">
            <a:avLst>
              <a:gd name="adj" fmla="val 85050"/>
            </a:avLst>
          </a:prstGeom>
          <a:solidFill>
            <a:srgbClr val="F65F6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/>
          <p:nvPr/>
        </p:nvSpPr>
        <p:spPr>
          <a:xfrm>
            <a:off x="6719173" y="485251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Transportbedarf</a:t>
            </a:r>
            <a:endParaRPr lang="en-US" sz="2150" dirty="0"/>
          </a:p>
        </p:txBody>
      </p:sp>
      <p:sp>
        <p:nvSpPr>
          <p:cNvPr id="13" name="Shape 10"/>
          <p:cNvSpPr/>
          <p:nvPr/>
        </p:nvSpPr>
        <p:spPr>
          <a:xfrm>
            <a:off x="10181749" y="4575215"/>
            <a:ext cx="3584615" cy="897493"/>
          </a:xfrm>
          <a:prstGeom prst="roundRect">
            <a:avLst>
              <a:gd name="adj" fmla="val 16301"/>
            </a:avLst>
          </a:prstGeom>
          <a:solidFill>
            <a:srgbClr val="191718">
              <a:alpha val="95000"/>
            </a:srgbClr>
          </a:solidFill>
          <a:ln w="3048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1"/>
          <p:cNvSpPr/>
          <p:nvPr/>
        </p:nvSpPr>
        <p:spPr>
          <a:xfrm>
            <a:off x="10151269" y="4575215"/>
            <a:ext cx="121920" cy="897493"/>
          </a:xfrm>
          <a:prstGeom prst="roundRect">
            <a:avLst>
              <a:gd name="adj" fmla="val 85050"/>
            </a:avLst>
          </a:prstGeom>
          <a:solidFill>
            <a:srgbClr val="F65F6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2"/>
          <p:cNvSpPr/>
          <p:nvPr/>
        </p:nvSpPr>
        <p:spPr>
          <a:xfrm>
            <a:off x="10550485" y="485251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Günstige Politik</a:t>
            </a:r>
            <a:endParaRPr lang="en-US" sz="2150" dirty="0"/>
          </a:p>
        </p:txBody>
      </p:sp>
      <p:sp>
        <p:nvSpPr>
          <p:cNvPr id="16" name="Text 13"/>
          <p:cNvSpPr/>
          <p:nvPr/>
        </p:nvSpPr>
        <p:spPr>
          <a:xfrm>
            <a:off x="6350437" y="5750362"/>
            <a:ext cx="74159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Vier Faktoren machten England zum frühen Zentrum des Eisenbahnbaus.</a:t>
            </a:r>
            <a:endParaRPr lang="en-US" sz="1900" dirty="0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A91D51AF-BB7B-7391-1F0F-7897734B4A00}"/>
              </a:ext>
            </a:extLst>
          </p:cNvPr>
          <p:cNvSpPr/>
          <p:nvPr/>
        </p:nvSpPr>
        <p:spPr>
          <a:xfrm>
            <a:off x="12875298" y="7637144"/>
            <a:ext cx="1755101" cy="569595"/>
          </a:xfrm>
          <a:prstGeom prst="rect">
            <a:avLst/>
          </a:prstGeom>
          <a:solidFill>
            <a:srgbClr val="181617"/>
          </a:solidFill>
          <a:ln>
            <a:solidFill>
              <a:srgbClr val="1816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55100" y="592455"/>
            <a:ext cx="5036106" cy="503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Fahrzeiten damals und heute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1755100" y="1362313"/>
            <a:ext cx="11120199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Fahrroute:</a:t>
            </a:r>
            <a:r>
              <a:rPr lang="en-US" sz="14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Wien–Salzburg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755100" y="3072051"/>
            <a:ext cx="11120199" cy="22860"/>
          </a:xfrm>
          <a:prstGeom prst="roundRect">
            <a:avLst>
              <a:gd name="adj" fmla="val 333112"/>
            </a:avLst>
          </a:prstGeom>
          <a:solidFill>
            <a:srgbClr val="9220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5422583" y="2528173"/>
            <a:ext cx="22860" cy="543878"/>
          </a:xfrm>
          <a:prstGeom prst="roundRect">
            <a:avLst>
              <a:gd name="adj" fmla="val 333112"/>
            </a:avLst>
          </a:prstGeom>
          <a:solidFill>
            <a:srgbClr val="9220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5230058" y="2868097"/>
            <a:ext cx="407908" cy="407908"/>
          </a:xfrm>
          <a:prstGeom prst="roundRect">
            <a:avLst>
              <a:gd name="adj" fmla="val 18668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313164" y="2920960"/>
            <a:ext cx="241697" cy="302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426744" y="1763673"/>
            <a:ext cx="2014538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1926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936313" y="2095262"/>
            <a:ext cx="6995517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4 Std. 30 Min.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84838" y="3072051"/>
            <a:ext cx="22860" cy="543878"/>
          </a:xfrm>
          <a:prstGeom prst="roundRect">
            <a:avLst>
              <a:gd name="adj" fmla="val 333112"/>
            </a:avLst>
          </a:prstGeom>
          <a:solidFill>
            <a:srgbClr val="9220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8992314" y="2868097"/>
            <a:ext cx="407908" cy="407908"/>
          </a:xfrm>
          <a:prstGeom prst="roundRect">
            <a:avLst>
              <a:gd name="adj" fmla="val 18668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9075420" y="2920960"/>
            <a:ext cx="241697" cy="302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189000" y="3797260"/>
            <a:ext cx="2014538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Heute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698450" y="4128849"/>
            <a:ext cx="6995636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 Std. 25 Min.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55100" y="4580096"/>
            <a:ext cx="2413873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Gründe der Beschleunigung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755100" y="5031581"/>
            <a:ext cx="11120199" cy="1444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Elektrifizierung der Strecke</a:t>
            </a:r>
            <a:endParaRPr lang="en-US" sz="140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Ausbau und Modernisierung der Infrastruktur</a:t>
            </a:r>
            <a:endParaRPr lang="en-US" sz="140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Einsatz schnellerer Fern- und Hochgeschwindigkeitszüge</a:t>
            </a:r>
            <a:endParaRPr lang="en-US" sz="140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Optimierte Streckenführung und weniger Verzögerungen</a:t>
            </a:r>
            <a:endParaRPr lang="en-US" sz="140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Höhere Zugdichte durch den Schienenausbau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755100" y="6625471"/>
            <a:ext cx="11120199" cy="1011674"/>
          </a:xfrm>
          <a:prstGeom prst="roundRect">
            <a:avLst>
              <a:gd name="adj" fmla="val 7527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6313" y="6891457"/>
            <a:ext cx="226576" cy="181213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2344103" y="6803827"/>
            <a:ext cx="10349984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Josef Ressel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2344103" y="7175183"/>
            <a:ext cx="10349984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Schiffsschraube</a:t>
            </a:r>
            <a:endParaRPr lang="en-US" sz="1400" dirty="0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0C492EF6-7E16-FE23-E406-A92D3891F7E8}"/>
              </a:ext>
            </a:extLst>
          </p:cNvPr>
          <p:cNvSpPr/>
          <p:nvPr/>
        </p:nvSpPr>
        <p:spPr>
          <a:xfrm>
            <a:off x="12875298" y="7637144"/>
            <a:ext cx="1755101" cy="569595"/>
          </a:xfrm>
          <a:prstGeom prst="rect">
            <a:avLst/>
          </a:prstGeom>
          <a:solidFill>
            <a:srgbClr val="181617"/>
          </a:solidFill>
          <a:ln>
            <a:solidFill>
              <a:srgbClr val="1816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0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0101" y="636508"/>
            <a:ext cx="5218628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Sport als Technikmotor</a:t>
            </a:r>
            <a:endParaRPr lang="en-US" sz="4050" dirty="0"/>
          </a:p>
        </p:txBody>
      </p:sp>
      <p:sp>
        <p:nvSpPr>
          <p:cNvPr id="4" name="Shape 1"/>
          <p:cNvSpPr/>
          <p:nvPr/>
        </p:nvSpPr>
        <p:spPr>
          <a:xfrm>
            <a:off x="810101" y="1604843"/>
            <a:ext cx="3653433" cy="2203371"/>
          </a:xfrm>
          <a:prstGeom prst="roundRect">
            <a:avLst>
              <a:gd name="adj" fmla="val 6640"/>
            </a:avLst>
          </a:prstGeom>
          <a:solidFill>
            <a:srgbClr val="191718">
              <a:alpha val="95000"/>
            </a:srgbClr>
          </a:solidFill>
          <a:ln w="3048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2"/>
          <p:cNvSpPr/>
          <p:nvPr/>
        </p:nvSpPr>
        <p:spPr>
          <a:xfrm>
            <a:off x="779621" y="1604843"/>
            <a:ext cx="121920" cy="2203371"/>
          </a:xfrm>
          <a:prstGeom prst="roundRect">
            <a:avLst>
              <a:gd name="adj" fmla="val 79735"/>
            </a:avLst>
          </a:prstGeom>
          <a:solidFill>
            <a:srgbClr val="F65F6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3"/>
          <p:cNvSpPr/>
          <p:nvPr/>
        </p:nvSpPr>
        <p:spPr>
          <a:xfrm>
            <a:off x="1163479" y="1866781"/>
            <a:ext cx="257175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Antike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163479" y="2318385"/>
            <a:ext cx="3038118" cy="1227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Wagenrennen</a:t>
            </a:r>
            <a:endParaRPr lang="en-US" sz="180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Hohe Investitionen</a:t>
            </a:r>
            <a:endParaRPr lang="en-US" sz="180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Betriebsspionage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680466" y="1604843"/>
            <a:ext cx="3653433" cy="2203371"/>
          </a:xfrm>
          <a:prstGeom prst="roundRect">
            <a:avLst>
              <a:gd name="adj" fmla="val 6640"/>
            </a:avLst>
          </a:prstGeom>
          <a:solidFill>
            <a:srgbClr val="191718">
              <a:alpha val="95000"/>
            </a:srgbClr>
          </a:solidFill>
          <a:ln w="3048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6"/>
          <p:cNvSpPr/>
          <p:nvPr/>
        </p:nvSpPr>
        <p:spPr>
          <a:xfrm>
            <a:off x="4649986" y="1604843"/>
            <a:ext cx="121920" cy="2203371"/>
          </a:xfrm>
          <a:prstGeom prst="roundRect">
            <a:avLst>
              <a:gd name="adj" fmla="val 79735"/>
            </a:avLst>
          </a:prstGeom>
          <a:solidFill>
            <a:srgbClr val="F65F6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/>
          <p:nvPr/>
        </p:nvSpPr>
        <p:spPr>
          <a:xfrm>
            <a:off x="5033843" y="1866781"/>
            <a:ext cx="257175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Politik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033843" y="2318385"/>
            <a:ext cx="3038118" cy="1227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Eigene Werkstätten</a:t>
            </a:r>
            <a:endParaRPr lang="en-US" sz="180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Instrument</a:t>
            </a:r>
            <a:endParaRPr lang="en-US" sz="180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Volksmassen lenken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10101" y="4025146"/>
            <a:ext cx="3653433" cy="2203371"/>
          </a:xfrm>
          <a:prstGeom prst="roundRect">
            <a:avLst>
              <a:gd name="adj" fmla="val 6640"/>
            </a:avLst>
          </a:prstGeom>
          <a:solidFill>
            <a:srgbClr val="191718">
              <a:alpha val="95000"/>
            </a:srgbClr>
          </a:solidFill>
          <a:ln w="3048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0"/>
          <p:cNvSpPr/>
          <p:nvPr/>
        </p:nvSpPr>
        <p:spPr>
          <a:xfrm>
            <a:off x="779621" y="4025146"/>
            <a:ext cx="121920" cy="2203371"/>
          </a:xfrm>
          <a:prstGeom prst="roundRect">
            <a:avLst>
              <a:gd name="adj" fmla="val 79735"/>
            </a:avLst>
          </a:prstGeom>
          <a:solidFill>
            <a:srgbClr val="F65F6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1"/>
          <p:cNvSpPr/>
          <p:nvPr/>
        </p:nvSpPr>
        <p:spPr>
          <a:xfrm>
            <a:off x="1163479" y="4287083"/>
            <a:ext cx="257175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Moderne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163479" y="4738688"/>
            <a:ext cx="3038118" cy="1227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Formel 1</a:t>
            </a:r>
            <a:endParaRPr lang="en-US" sz="180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Gladiatoren</a:t>
            </a:r>
            <a:endParaRPr lang="en-US" sz="180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Hohe Budgets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4680466" y="4025146"/>
            <a:ext cx="3653433" cy="2203371"/>
          </a:xfrm>
          <a:prstGeom prst="roundRect">
            <a:avLst>
              <a:gd name="adj" fmla="val 6640"/>
            </a:avLst>
          </a:prstGeom>
          <a:solidFill>
            <a:srgbClr val="191718">
              <a:alpha val="95000"/>
            </a:srgbClr>
          </a:solidFill>
          <a:ln w="3048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4"/>
          <p:cNvSpPr/>
          <p:nvPr/>
        </p:nvSpPr>
        <p:spPr>
          <a:xfrm>
            <a:off x="4649986" y="4025146"/>
            <a:ext cx="121920" cy="2203371"/>
          </a:xfrm>
          <a:prstGeom prst="roundRect">
            <a:avLst>
              <a:gd name="adj" fmla="val 79735"/>
            </a:avLst>
          </a:prstGeom>
          <a:solidFill>
            <a:srgbClr val="F65F6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5"/>
          <p:cNvSpPr/>
          <p:nvPr/>
        </p:nvSpPr>
        <p:spPr>
          <a:xfrm>
            <a:off x="5033843" y="4287083"/>
            <a:ext cx="257175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Antrieb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033843" y="4738688"/>
            <a:ext cx="3038118" cy="1227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Sponsoren treiben</a:t>
            </a:r>
            <a:endParaRPr lang="en-US" sz="180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Medieninteressen</a:t>
            </a:r>
            <a:endParaRPr lang="en-US" sz="180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Technischer Fortschritt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10101" y="6472595"/>
            <a:ext cx="2363272" cy="1121093"/>
          </a:xfrm>
          <a:prstGeom prst="roundRect">
            <a:avLst>
              <a:gd name="adj" fmla="val 8671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8"/>
          <p:cNvSpPr/>
          <p:nvPr/>
        </p:nvSpPr>
        <p:spPr>
          <a:xfrm>
            <a:off x="1049179" y="6711672"/>
            <a:ext cx="1885117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Materialien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3390305" y="6472595"/>
            <a:ext cx="2363272" cy="1121093"/>
          </a:xfrm>
          <a:prstGeom prst="roundRect">
            <a:avLst>
              <a:gd name="adj" fmla="val 8671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0"/>
          <p:cNvSpPr/>
          <p:nvPr/>
        </p:nvSpPr>
        <p:spPr>
          <a:xfrm>
            <a:off x="3629382" y="6711672"/>
            <a:ext cx="1885117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Aerodynamik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5970508" y="6472595"/>
            <a:ext cx="2363391" cy="1121093"/>
          </a:xfrm>
          <a:prstGeom prst="roundRect">
            <a:avLst>
              <a:gd name="adj" fmla="val 8671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2"/>
          <p:cNvSpPr/>
          <p:nvPr/>
        </p:nvSpPr>
        <p:spPr>
          <a:xfrm>
            <a:off x="6209586" y="6711672"/>
            <a:ext cx="1885236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Antriebstechnologien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3555" y="681157"/>
            <a:ext cx="11475125" cy="653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Wichtige Erfindungen des 18. und 19. Jahrhunderts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7299960" y="1783318"/>
            <a:ext cx="30480" cy="5765006"/>
          </a:xfrm>
          <a:prstGeom prst="roundRect">
            <a:avLst>
              <a:gd name="adj" fmla="val 324252"/>
            </a:avLst>
          </a:prstGeom>
          <a:solidFill>
            <a:srgbClr val="9220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6375083" y="2032754"/>
            <a:ext cx="705922" cy="30480"/>
          </a:xfrm>
          <a:prstGeom prst="roundRect">
            <a:avLst>
              <a:gd name="adj" fmla="val 324252"/>
            </a:avLst>
          </a:prstGeom>
          <a:solidFill>
            <a:srgbClr val="9220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7050524" y="1783318"/>
            <a:ext cx="529352" cy="529352"/>
          </a:xfrm>
          <a:prstGeom prst="roundRect">
            <a:avLst>
              <a:gd name="adj" fmla="val 18670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7158335" y="1851898"/>
            <a:ext cx="313730" cy="392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1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524012" y="1864162"/>
            <a:ext cx="2614613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Dampfmaschine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823555" y="2325529"/>
            <a:ext cx="5315069" cy="367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James Watt · 1769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7549396" y="3422452"/>
            <a:ext cx="705922" cy="30480"/>
          </a:xfrm>
          <a:prstGeom prst="roundRect">
            <a:avLst>
              <a:gd name="adj" fmla="val 324252"/>
            </a:avLst>
          </a:prstGeom>
          <a:solidFill>
            <a:srgbClr val="9220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7050524" y="3173016"/>
            <a:ext cx="529352" cy="529352"/>
          </a:xfrm>
          <a:prstGeom prst="roundRect">
            <a:avLst>
              <a:gd name="adj" fmla="val 18670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7158335" y="3241596"/>
            <a:ext cx="313730" cy="392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2</a:t>
            </a:r>
            <a:endParaRPr lang="en-US" sz="2450" dirty="0"/>
          </a:p>
        </p:txBody>
      </p:sp>
      <p:sp>
        <p:nvSpPr>
          <p:cNvPr id="12" name="Text 10"/>
          <p:cNvSpPr/>
          <p:nvPr/>
        </p:nvSpPr>
        <p:spPr>
          <a:xfrm>
            <a:off x="8491776" y="3253859"/>
            <a:ext cx="2614613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Glühlampe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8491776" y="3715226"/>
            <a:ext cx="5315069" cy="367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Thomas Edison · 1879 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491776" y="4217313"/>
            <a:ext cx="5315069" cy="367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6375083" y="4628317"/>
            <a:ext cx="705922" cy="30480"/>
          </a:xfrm>
          <a:prstGeom prst="roundRect">
            <a:avLst>
              <a:gd name="adj" fmla="val 324252"/>
            </a:avLst>
          </a:prstGeom>
          <a:solidFill>
            <a:srgbClr val="9220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7050524" y="4378881"/>
            <a:ext cx="529352" cy="529352"/>
          </a:xfrm>
          <a:prstGeom prst="roundRect">
            <a:avLst>
              <a:gd name="adj" fmla="val 18670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7158335" y="4447461"/>
            <a:ext cx="313730" cy="392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3</a:t>
            </a:r>
            <a:endParaRPr lang="en-US" sz="2450" dirty="0"/>
          </a:p>
        </p:txBody>
      </p:sp>
      <p:sp>
        <p:nvSpPr>
          <p:cNvPr id="18" name="Text 16"/>
          <p:cNvSpPr/>
          <p:nvPr/>
        </p:nvSpPr>
        <p:spPr>
          <a:xfrm>
            <a:off x="3524012" y="4459724"/>
            <a:ext cx="2614613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Automobil</a:t>
            </a:r>
            <a:endParaRPr lang="en-US" sz="2050" dirty="0"/>
          </a:p>
        </p:txBody>
      </p:sp>
      <p:sp>
        <p:nvSpPr>
          <p:cNvPr id="19" name="Text 17"/>
          <p:cNvSpPr/>
          <p:nvPr/>
        </p:nvSpPr>
        <p:spPr>
          <a:xfrm>
            <a:off x="823555" y="4921091"/>
            <a:ext cx="5315069" cy="367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Carl Benz · 1885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823555" y="5423178"/>
            <a:ext cx="5315069" cy="367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endParaRPr lang="en-US" sz="1850" dirty="0"/>
          </a:p>
        </p:txBody>
      </p:sp>
      <p:sp>
        <p:nvSpPr>
          <p:cNvPr id="21" name="Shape 19"/>
          <p:cNvSpPr/>
          <p:nvPr/>
        </p:nvSpPr>
        <p:spPr>
          <a:xfrm>
            <a:off x="7549396" y="5834301"/>
            <a:ext cx="705922" cy="30480"/>
          </a:xfrm>
          <a:prstGeom prst="roundRect">
            <a:avLst>
              <a:gd name="adj" fmla="val 324252"/>
            </a:avLst>
          </a:prstGeom>
          <a:solidFill>
            <a:srgbClr val="9220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7050524" y="5584865"/>
            <a:ext cx="529352" cy="529352"/>
          </a:xfrm>
          <a:prstGeom prst="roundRect">
            <a:avLst>
              <a:gd name="adj" fmla="val 18670"/>
            </a:avLst>
          </a:prstGeom>
          <a:solidFill>
            <a:srgbClr val="790709"/>
          </a:solidFill>
          <a:ln w="762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7158335" y="5653445"/>
            <a:ext cx="313730" cy="392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4</a:t>
            </a:r>
            <a:endParaRPr lang="en-US" sz="2450" dirty="0"/>
          </a:p>
        </p:txBody>
      </p:sp>
      <p:sp>
        <p:nvSpPr>
          <p:cNvPr id="24" name="Text 22"/>
          <p:cNvSpPr/>
          <p:nvPr/>
        </p:nvSpPr>
        <p:spPr>
          <a:xfrm>
            <a:off x="8491776" y="5665708"/>
            <a:ext cx="2614613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Telefon</a:t>
            </a:r>
            <a:endParaRPr lang="en-US" sz="2050" dirty="0"/>
          </a:p>
        </p:txBody>
      </p:sp>
      <p:sp>
        <p:nvSpPr>
          <p:cNvPr id="25" name="Text 23"/>
          <p:cNvSpPr/>
          <p:nvPr/>
        </p:nvSpPr>
        <p:spPr>
          <a:xfrm>
            <a:off x="8491776" y="6127075"/>
            <a:ext cx="5315069" cy="367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Alexander Graham Bell · 1876</a:t>
            </a:r>
            <a:endParaRPr lang="en-US" sz="1850" dirty="0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F482EAE9-64F1-ED54-CBFC-2EFB43D4BE6A}"/>
              </a:ext>
            </a:extLst>
          </p:cNvPr>
          <p:cNvSpPr/>
          <p:nvPr/>
        </p:nvSpPr>
        <p:spPr>
          <a:xfrm>
            <a:off x="12875298" y="7637144"/>
            <a:ext cx="1755101" cy="569595"/>
          </a:xfrm>
          <a:prstGeom prst="rect">
            <a:avLst/>
          </a:prstGeom>
          <a:solidFill>
            <a:srgbClr val="181617"/>
          </a:solidFill>
          <a:ln>
            <a:solidFill>
              <a:srgbClr val="1816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037" y="2685098"/>
            <a:ext cx="1001673" cy="464106"/>
          </a:xfrm>
          <a:prstGeom prst="roundRect">
            <a:avLst>
              <a:gd name="adj" fmla="val 17874"/>
            </a:avLst>
          </a:prstGeom>
          <a:solidFill>
            <a:srgbClr val="48040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1012150" y="2759154"/>
            <a:ext cx="705445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AB 2007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64037" y="3247906"/>
            <a:ext cx="11536323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Erfindungen der letzten Jahre und deren Ausbau</a:t>
            </a:r>
            <a:endParaRPr lang="en-US" sz="4300" dirty="0"/>
          </a:p>
        </p:txBody>
      </p:sp>
      <p:sp>
        <p:nvSpPr>
          <p:cNvPr id="5" name="Shape 3"/>
          <p:cNvSpPr/>
          <p:nvPr/>
        </p:nvSpPr>
        <p:spPr>
          <a:xfrm>
            <a:off x="864037" y="4303990"/>
            <a:ext cx="3040380" cy="1240393"/>
          </a:xfrm>
          <a:prstGeom prst="roundRect">
            <a:avLst>
              <a:gd name="adj" fmla="val 8360"/>
            </a:avLst>
          </a:prstGeom>
          <a:solidFill>
            <a:srgbClr val="191718">
              <a:alpha val="95000"/>
            </a:srgbClr>
          </a:solidFill>
          <a:ln w="3048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1141333" y="4581287"/>
            <a:ext cx="248578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Smartphone</a:t>
            </a:r>
            <a:endParaRPr lang="en-US" sz="2150" dirty="0"/>
          </a:p>
        </p:txBody>
      </p:sp>
      <p:sp>
        <p:nvSpPr>
          <p:cNvPr id="7" name="Shape 5"/>
          <p:cNvSpPr/>
          <p:nvPr/>
        </p:nvSpPr>
        <p:spPr>
          <a:xfrm>
            <a:off x="4151233" y="4303990"/>
            <a:ext cx="3040499" cy="1240393"/>
          </a:xfrm>
          <a:prstGeom prst="roundRect">
            <a:avLst>
              <a:gd name="adj" fmla="val 8360"/>
            </a:avLst>
          </a:prstGeom>
          <a:solidFill>
            <a:srgbClr val="191718">
              <a:alpha val="95000"/>
            </a:srgbClr>
          </a:solidFill>
          <a:ln w="3048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4428530" y="4581287"/>
            <a:ext cx="248590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Internet</a:t>
            </a:r>
            <a:endParaRPr lang="en-US" sz="2150" dirty="0"/>
          </a:p>
        </p:txBody>
      </p:sp>
      <p:sp>
        <p:nvSpPr>
          <p:cNvPr id="9" name="Shape 7"/>
          <p:cNvSpPr/>
          <p:nvPr/>
        </p:nvSpPr>
        <p:spPr>
          <a:xfrm>
            <a:off x="7438549" y="4303990"/>
            <a:ext cx="3040499" cy="1240393"/>
          </a:xfrm>
          <a:prstGeom prst="roundRect">
            <a:avLst>
              <a:gd name="adj" fmla="val 8360"/>
            </a:avLst>
          </a:prstGeom>
          <a:solidFill>
            <a:srgbClr val="191718">
              <a:alpha val="95000"/>
            </a:srgbClr>
          </a:solidFill>
          <a:ln w="3048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7715845" y="4581287"/>
            <a:ext cx="248590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Soziale Medien</a:t>
            </a:r>
            <a:endParaRPr lang="en-US" sz="2150" dirty="0"/>
          </a:p>
        </p:txBody>
      </p:sp>
      <p:sp>
        <p:nvSpPr>
          <p:cNvPr id="11" name="Shape 9"/>
          <p:cNvSpPr/>
          <p:nvPr/>
        </p:nvSpPr>
        <p:spPr>
          <a:xfrm>
            <a:off x="10725864" y="4303990"/>
            <a:ext cx="3040499" cy="1240393"/>
          </a:xfrm>
          <a:prstGeom prst="roundRect">
            <a:avLst>
              <a:gd name="adj" fmla="val 8360"/>
            </a:avLst>
          </a:prstGeom>
          <a:solidFill>
            <a:srgbClr val="191718">
              <a:alpha val="95000"/>
            </a:srgbClr>
          </a:solidFill>
          <a:ln w="3048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11003161" y="4581287"/>
            <a:ext cx="24859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Künstliche Intelligenz</a:t>
            </a:r>
            <a:endParaRPr lang="en-US" sz="2150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F05CC21-CCA5-3582-B5BB-317F5F02665A}"/>
              </a:ext>
            </a:extLst>
          </p:cNvPr>
          <p:cNvSpPr/>
          <p:nvPr/>
        </p:nvSpPr>
        <p:spPr>
          <a:xfrm>
            <a:off x="12875298" y="7637144"/>
            <a:ext cx="1755101" cy="569595"/>
          </a:xfrm>
          <a:prstGeom prst="rect">
            <a:avLst/>
          </a:prstGeom>
          <a:solidFill>
            <a:srgbClr val="181617"/>
          </a:solidFill>
          <a:ln>
            <a:solidFill>
              <a:srgbClr val="1816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831181"/>
            <a:ext cx="8050768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Technik im Vergleich der Epochen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3010733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Wichtige Meilensteine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64037" y="3683437"/>
            <a:ext cx="4136231" cy="867013"/>
          </a:xfrm>
          <a:prstGeom prst="roundRect">
            <a:avLst>
              <a:gd name="adj" fmla="val 11960"/>
            </a:avLst>
          </a:prstGeom>
          <a:solidFill>
            <a:srgbClr val="790709"/>
          </a:solidFill>
          <a:ln w="1524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1126093" y="394549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Eisenbahn</a:t>
            </a:r>
            <a:endParaRPr lang="en-US" sz="2150" dirty="0"/>
          </a:p>
        </p:txBody>
      </p:sp>
      <p:sp>
        <p:nvSpPr>
          <p:cNvPr id="6" name="Shape 4"/>
          <p:cNvSpPr/>
          <p:nvPr/>
        </p:nvSpPr>
        <p:spPr>
          <a:xfrm>
            <a:off x="5247084" y="3683437"/>
            <a:ext cx="4136231" cy="867013"/>
          </a:xfrm>
          <a:prstGeom prst="roundRect">
            <a:avLst>
              <a:gd name="adj" fmla="val 11960"/>
            </a:avLst>
          </a:prstGeom>
          <a:solidFill>
            <a:srgbClr val="790709"/>
          </a:solidFill>
          <a:ln w="1524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509141" y="394549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Telefon</a:t>
            </a:r>
            <a:endParaRPr lang="en-US" sz="2150" dirty="0"/>
          </a:p>
        </p:txBody>
      </p:sp>
      <p:sp>
        <p:nvSpPr>
          <p:cNvPr id="8" name="Shape 6"/>
          <p:cNvSpPr/>
          <p:nvPr/>
        </p:nvSpPr>
        <p:spPr>
          <a:xfrm>
            <a:off x="9630132" y="3683437"/>
            <a:ext cx="4136231" cy="867013"/>
          </a:xfrm>
          <a:prstGeom prst="roundRect">
            <a:avLst>
              <a:gd name="adj" fmla="val 11960"/>
            </a:avLst>
          </a:prstGeom>
          <a:solidFill>
            <a:srgbClr val="790709"/>
          </a:solidFill>
          <a:ln w="1524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9892189" y="394549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Smartphone &amp; KI</a:t>
            </a:r>
            <a:endParaRPr lang="en-US" sz="2150" dirty="0"/>
          </a:p>
        </p:txBody>
      </p:sp>
      <p:sp>
        <p:nvSpPr>
          <p:cNvPr id="10" name="Text 8"/>
          <p:cNvSpPr/>
          <p:nvPr/>
        </p:nvSpPr>
        <p:spPr>
          <a:xfrm>
            <a:off x="864037" y="4828103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Wirkung wächst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64037" y="5500807"/>
            <a:ext cx="4136231" cy="897493"/>
          </a:xfrm>
          <a:prstGeom prst="roundRect">
            <a:avLst>
              <a:gd name="adj" fmla="val 16301"/>
            </a:avLst>
          </a:prstGeom>
          <a:solidFill>
            <a:srgbClr val="191718">
              <a:alpha val="95000"/>
            </a:srgbClr>
          </a:solidFill>
          <a:ln w="3048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833557" y="5500807"/>
            <a:ext cx="121920" cy="897493"/>
          </a:xfrm>
          <a:prstGeom prst="roundRect">
            <a:avLst>
              <a:gd name="adj" fmla="val 85050"/>
            </a:avLst>
          </a:prstGeom>
          <a:solidFill>
            <a:srgbClr val="F65F6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1232773" y="577810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Transport</a:t>
            </a:r>
            <a:endParaRPr lang="en-US" sz="2150" dirty="0"/>
          </a:p>
        </p:txBody>
      </p:sp>
      <p:sp>
        <p:nvSpPr>
          <p:cNvPr id="14" name="Shape 12"/>
          <p:cNvSpPr/>
          <p:nvPr/>
        </p:nvSpPr>
        <p:spPr>
          <a:xfrm>
            <a:off x="5247084" y="5500807"/>
            <a:ext cx="4136231" cy="897493"/>
          </a:xfrm>
          <a:prstGeom prst="roundRect">
            <a:avLst>
              <a:gd name="adj" fmla="val 16301"/>
            </a:avLst>
          </a:prstGeom>
          <a:solidFill>
            <a:srgbClr val="191718">
              <a:alpha val="95000"/>
            </a:srgbClr>
          </a:solidFill>
          <a:ln w="3048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5216604" y="5500807"/>
            <a:ext cx="121920" cy="897493"/>
          </a:xfrm>
          <a:prstGeom prst="roundRect">
            <a:avLst>
              <a:gd name="adj" fmla="val 85050"/>
            </a:avLst>
          </a:prstGeom>
          <a:solidFill>
            <a:srgbClr val="F65F6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5615821" y="577810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Kommunikation</a:t>
            </a:r>
            <a:endParaRPr lang="en-US" sz="2150" dirty="0"/>
          </a:p>
        </p:txBody>
      </p:sp>
      <p:sp>
        <p:nvSpPr>
          <p:cNvPr id="17" name="Shape 15"/>
          <p:cNvSpPr/>
          <p:nvPr/>
        </p:nvSpPr>
        <p:spPr>
          <a:xfrm>
            <a:off x="9630132" y="5500807"/>
            <a:ext cx="4136231" cy="897493"/>
          </a:xfrm>
          <a:prstGeom prst="roundRect">
            <a:avLst>
              <a:gd name="adj" fmla="val 16301"/>
            </a:avLst>
          </a:prstGeom>
          <a:solidFill>
            <a:srgbClr val="191718">
              <a:alpha val="95000"/>
            </a:srgbClr>
          </a:solidFill>
          <a:ln w="30480">
            <a:solidFill>
              <a:srgbClr val="9220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9599652" y="5500807"/>
            <a:ext cx="121920" cy="897493"/>
          </a:xfrm>
          <a:prstGeom prst="roundRect">
            <a:avLst>
              <a:gd name="adj" fmla="val 85050"/>
            </a:avLst>
          </a:prstGeom>
          <a:solidFill>
            <a:srgbClr val="F65F6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9998869" y="577810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Alltag</a:t>
            </a:r>
            <a:endParaRPr lang="en-US" sz="2150" dirty="0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129F84F3-3B00-0874-F6DF-8515BA4F77A1}"/>
              </a:ext>
            </a:extLst>
          </p:cNvPr>
          <p:cNvSpPr/>
          <p:nvPr/>
        </p:nvSpPr>
        <p:spPr>
          <a:xfrm>
            <a:off x="12875298" y="7637144"/>
            <a:ext cx="1755101" cy="569595"/>
          </a:xfrm>
          <a:prstGeom prst="rect">
            <a:avLst/>
          </a:prstGeom>
          <a:solidFill>
            <a:srgbClr val="181617"/>
          </a:solidFill>
          <a:ln>
            <a:solidFill>
              <a:srgbClr val="1816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3429000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Macht uns Fortschritt freier – oder abhängiger?</a:t>
            </a:r>
            <a:endParaRPr lang="en-US" sz="4300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E4DA21A-8AD5-5359-B586-8A88E6D700D1}"/>
              </a:ext>
            </a:extLst>
          </p:cNvPr>
          <p:cNvSpPr/>
          <p:nvPr/>
        </p:nvSpPr>
        <p:spPr>
          <a:xfrm>
            <a:off x="12875298" y="7637144"/>
            <a:ext cx="1755101" cy="569595"/>
          </a:xfrm>
          <a:prstGeom prst="rect">
            <a:avLst/>
          </a:prstGeom>
          <a:solidFill>
            <a:srgbClr val="181617"/>
          </a:solidFill>
          <a:ln>
            <a:solidFill>
              <a:srgbClr val="1816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446377"/>
            <a:ext cx="11246644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Macht uns Fortschritt freier – oder abhängiger?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374927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Freiheit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864037" y="4338995"/>
            <a:ext cx="6150054" cy="1357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Zugang zu Wissen</a:t>
            </a:r>
            <a:endParaRPr lang="en-US" sz="1900" dirty="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Flexibles Arbeiten</a:t>
            </a:r>
            <a:endParaRPr lang="en-US" sz="1900" dirty="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Mehr Selbstbestimmung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623929" y="374927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Abhängigkeit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7623929" y="4338995"/>
            <a:ext cx="6150054" cy="1357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Abhängigkeit von Strom und Netz</a:t>
            </a:r>
            <a:endParaRPr lang="en-US" sz="1900" dirty="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Mehr Überwachung</a:t>
            </a:r>
            <a:endParaRPr lang="en-US" sz="1900" dirty="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Zunehmende Automatisierung</a:t>
            </a:r>
            <a:endParaRPr lang="en-US" sz="190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611B3D8-F200-998A-3D80-803B9074C1B8}"/>
              </a:ext>
            </a:extLst>
          </p:cNvPr>
          <p:cNvSpPr/>
          <p:nvPr/>
        </p:nvSpPr>
        <p:spPr>
          <a:xfrm>
            <a:off x="12875298" y="7637144"/>
            <a:ext cx="1755101" cy="569595"/>
          </a:xfrm>
          <a:prstGeom prst="rect">
            <a:avLst/>
          </a:prstGeom>
          <a:solidFill>
            <a:srgbClr val="181617"/>
          </a:solidFill>
          <a:ln>
            <a:solidFill>
              <a:srgbClr val="1816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5912" y="3582330"/>
            <a:ext cx="12578576" cy="2996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400"/>
              </a:lnSpc>
            </a:pPr>
            <a:r>
              <a:rPr lang="de-DE" sz="4400" dirty="0">
                <a:solidFill>
                  <a:schemeClr val="bg1"/>
                </a:solidFill>
                <a:latin typeface="Barlow Medium" panose="020F0502020204030204" pitchFamily="2" charset="0"/>
              </a:rPr>
              <a:t>Sollte der Staat entscheiden, welche Erfindungen </a:t>
            </a:r>
          </a:p>
          <a:p>
            <a:pPr>
              <a:lnSpc>
                <a:spcPts val="5400"/>
              </a:lnSpc>
            </a:pPr>
            <a:r>
              <a:rPr lang="de-DE" sz="4400" dirty="0">
                <a:solidFill>
                  <a:schemeClr val="bg1"/>
                </a:solidFill>
                <a:latin typeface="Barlow Medium" panose="020F0502020204030204" pitchFamily="2" charset="0"/>
              </a:rPr>
              <a:t>gefördert werden oder soll das der Markt regeln?</a:t>
            </a:r>
            <a:r>
              <a:rPr lang="de-DE" sz="4400" dirty="0">
                <a:latin typeface="Barlow Medium" panose="020F0502020204030204" pitchFamily="2" charset="0"/>
              </a:rPr>
              <a:t>?</a:t>
            </a:r>
          </a:p>
          <a:p>
            <a:pPr marL="0" indent="0" algn="l">
              <a:lnSpc>
                <a:spcPts val="5400"/>
              </a:lnSpc>
              <a:buNone/>
            </a:pPr>
            <a:endParaRPr lang="en-US" sz="4300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E1306C2-D270-63EE-BF3C-A73ACD9CD3E9}"/>
              </a:ext>
            </a:extLst>
          </p:cNvPr>
          <p:cNvSpPr/>
          <p:nvPr/>
        </p:nvSpPr>
        <p:spPr>
          <a:xfrm>
            <a:off x="12875298" y="7637144"/>
            <a:ext cx="1755101" cy="569595"/>
          </a:xfrm>
          <a:prstGeom prst="rect">
            <a:avLst/>
          </a:prstGeom>
          <a:solidFill>
            <a:srgbClr val="181617"/>
          </a:solidFill>
          <a:ln>
            <a:solidFill>
              <a:srgbClr val="1816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446377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Staat oder Markt?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374927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Staat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864037" y="4338995"/>
            <a:ext cx="6048732" cy="1357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Gemeinwohl</a:t>
            </a:r>
            <a:endParaRPr lang="en-US" sz="1900" dirty="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Grundlagenforschung</a:t>
            </a:r>
            <a:endParaRPr lang="en-US" sz="1900" dirty="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Schutz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522607" y="374927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Markt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7522607" y="4338995"/>
            <a:ext cx="6251258" cy="1357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Wettbewerb</a:t>
            </a:r>
            <a:endParaRPr lang="en-US" sz="1900" dirty="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Private Eisenbahn</a:t>
            </a:r>
            <a:endParaRPr lang="en-US" sz="1900" dirty="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Flexibilität</a:t>
            </a:r>
            <a:endParaRPr lang="en-US" sz="190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D32FF47-A52C-5E99-3D83-BB88BF74AC08}"/>
              </a:ext>
            </a:extLst>
          </p:cNvPr>
          <p:cNvSpPr/>
          <p:nvPr/>
        </p:nvSpPr>
        <p:spPr>
          <a:xfrm>
            <a:off x="12875298" y="7637144"/>
            <a:ext cx="1755101" cy="569595"/>
          </a:xfrm>
          <a:prstGeom prst="rect">
            <a:avLst/>
          </a:prstGeom>
          <a:solidFill>
            <a:srgbClr val="181617"/>
          </a:solidFill>
          <a:ln>
            <a:solidFill>
              <a:srgbClr val="1816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309330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u="sng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Quellenverzeichnis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2488883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Schulbuch S 32/33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4037" y="3161586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OeBB-Infrastruktur AG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4037" y="3834289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Abrufbar unter: </a:t>
            </a:r>
            <a:r>
              <a:rPr lang="en-US" sz="1900" u="sng" dirty="0">
                <a:solidFill>
                  <a:srgbClr val="F65F62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https://www.oebb.at/de/infrastruktur/geschichte</a:t>
            </a: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(abgerufen am 23.04.2026).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4037" y="4506992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Österreichische Nationalbibliothek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4037" y="5179695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Abrufbar unter: </a:t>
            </a:r>
            <a:r>
              <a:rPr lang="en-US" sz="1900" u="sng" dirty="0">
                <a:solidFill>
                  <a:srgbClr val="F65F62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https://anno.onb.ac.at</a:t>
            </a: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(abgerufen am 23.04.2026).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4037" y="5852398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Federation Internationale de l'Automobile (FIA)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4037" y="6525101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Abrufbar unter: </a:t>
            </a:r>
            <a:r>
              <a:rPr lang="en-US" sz="1900" u="sng" dirty="0">
                <a:solidFill>
                  <a:srgbClr val="F65F62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https://www.fia.com/regulation/category/110</a:t>
            </a: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(abgerufen am 23.04.2026).</a:t>
            </a:r>
            <a:endParaRPr lang="en-US" sz="1900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7BE43FF7-1BBC-B0D3-B818-D3FB5A34BE88}"/>
              </a:ext>
            </a:extLst>
          </p:cNvPr>
          <p:cNvSpPr/>
          <p:nvPr/>
        </p:nvSpPr>
        <p:spPr>
          <a:xfrm>
            <a:off x="12875298" y="7637144"/>
            <a:ext cx="1755101" cy="569595"/>
          </a:xfrm>
          <a:prstGeom prst="rect">
            <a:avLst/>
          </a:prstGeom>
          <a:solidFill>
            <a:srgbClr val="181617"/>
          </a:solidFill>
          <a:ln>
            <a:solidFill>
              <a:srgbClr val="1816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408</Words>
  <Application>Microsoft Office PowerPoint</Application>
  <PresentationFormat>Benutzerdefiniert</PresentationFormat>
  <Paragraphs>142</Paragraphs>
  <Slides>14</Slides>
  <Notes>14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8" baseType="lpstr">
      <vt:lpstr>Barlow Medium</vt:lpstr>
      <vt:lpstr>Arial</vt:lpstr>
      <vt:lpstr>Barlow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Adrian Kornberger</cp:lastModifiedBy>
  <cp:revision>2</cp:revision>
  <dcterms:created xsi:type="dcterms:W3CDTF">2026-04-26T15:48:27Z</dcterms:created>
  <dcterms:modified xsi:type="dcterms:W3CDTF">2026-04-26T15:54:50Z</dcterms:modified>
</cp:coreProperties>
</file>